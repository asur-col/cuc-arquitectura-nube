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image" Target="../media/image46.png"/><Relationship Id="rId25" Type="http://schemas.openxmlformats.org/officeDocument/2006/relationships/image" Target="../media/image47.png"/><Relationship Id="rId26" Type="http://schemas.openxmlformats.org/officeDocument/2006/relationships/image" Target="../media/image48.png"/><Relationship Id="rId27" Type="http://schemas.openxmlformats.org/officeDocument/2006/relationships/image" Target="../media/image49.png"/><Relationship Id="rId28" Type="http://schemas.openxmlformats.org/officeDocument/2006/relationships/image" Target="../media/image50.png"/><Relationship Id="rId29" Type="http://schemas.openxmlformats.org/officeDocument/2006/relationships/image" Target="../media/image5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A6192E"/>
                </a:solidFill>
                <a:latin typeface="Segoe UI"/>
              </a:rPr>
              <a:t>Arquitectura en la Nube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A2A2A"/>
                </a:solidFill>
                <a:latin typeface="Segoe UI"/>
              </a:rPr>
              <a:t>Fundamentos y Seguridad de la Computación en la Nube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7448" y="3611880"/>
            <a:ext cx="2743200" cy="4114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A2A2A"/>
                </a:solidFill>
                <a:latin typeface="Segoe UI"/>
              </a:rPr>
              <a:t>Ing. Rodolfo Cañas Cervantes</a:t>
            </a:r>
          </a:p>
          <a:p>
            <a:pPr algn="ctr"/>
            <a:r>
              <a:rPr sz="1400" b="0">
                <a:solidFill>
                  <a:srgbClr val="2A2A2A"/>
                </a:solidFill>
                <a:latin typeface="Segoe UI"/>
              </a:rPr>
              <a:t>Universidad de la Costa (CUC) · Ingeniería de Sistemas</a:t>
            </a:r>
          </a:p>
          <a:p>
            <a:pPr algn="ctr"/>
            <a:r>
              <a:rPr sz="1300" b="0">
                <a:solidFill>
                  <a:srgbClr val="2A2A2A"/>
                </a:solidFill>
                <a:latin typeface="Segoe UI"/>
              </a:rPr>
              <a:t>Semanas 1 y 2 · Periodo 2026-2 · Barranquilla, Colombia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567" y="457200"/>
            <a:ext cx="4480560" cy="1499616"/>
          </a:xfrm>
          <a:prstGeom prst="rect">
            <a:avLst/>
          </a:prstGeom>
        </p:spPr>
      </p:pic>
      <p:sp>
        <p:nvSpPr>
          <p:cNvPr id="24" name="pill-AWS"/>
          <p:cNvSpPr/>
          <p:nvPr/>
        </p:nvSpPr>
        <p:spPr>
          <a:xfrm>
            <a:off x="2212848" y="5394960"/>
            <a:ext cx="17830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ill-Azure"/>
          <p:cNvSpPr/>
          <p:nvPr/>
        </p:nvSpPr>
        <p:spPr>
          <a:xfrm>
            <a:off x="4178808" y="5394960"/>
            <a:ext cx="17830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ill-GCP"/>
          <p:cNvSpPr/>
          <p:nvPr/>
        </p:nvSpPr>
        <p:spPr>
          <a:xfrm>
            <a:off x="6144768" y="5394960"/>
            <a:ext cx="17830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ill-Oracle"/>
          <p:cNvSpPr/>
          <p:nvPr/>
        </p:nvSpPr>
        <p:spPr>
          <a:xfrm>
            <a:off x="8110727" y="5394960"/>
            <a:ext cx="17830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13" y="5532120"/>
            <a:ext cx="341348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852" y="5532120"/>
            <a:ext cx="2286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942" y="5532120"/>
            <a:ext cx="145073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7" y="5546841"/>
            <a:ext cx="1508760" cy="1991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32604" y="5532120"/>
            <a:ext cx="7772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</a:rPr>
              <a:t>Azure</a:t>
            </a:r>
          </a:p>
        </p:txBody>
      </p:sp>
    </p:spTree>
  </p:cSld>
  <p:clrMapOvr>
    <a:masterClrMapping/>
  </p:clrMapOvr>
  <p:sp>
    <p:nvSpPr>
      <p:cNvPr id="4" name="Rounded Rectangle 3"/>
      <p:cNvSpPr/>
      <p:nvPr/>
    </p:nvSpPr>
    <p:spPr>
      <a:xfrm>
        <a:off x="2212848" y="5394960"/>
        <a:ext cx="1783080" cy="502920"/>
      </a:xfrm>
      <a:prstGeom prst="roundRect">
        <a:avLst/>
      </a:prstGeom>
      <a:solidFill>
        <a:srgbClr val="FFFFFF"/>
      </a:solidFill>
      <a:ln w="15240">
        <a:solidFill>
          <a:srgbClr val="A6192E"/>
        </a:solidFill>
      </a:ln>
      <a:effectLst/>
    </p:spPr>
    <p:style>
      <a:lnRef idx="1">
        <a:schemeClr val="accent1"/>
      </a:lnRef>
      <a:fillRef idx="3">
        <a:schemeClr val="accent1"/>
      </a:fillRef>
      <a:effectRef idx="2">
        <a:schemeClr val="accent1"/>
      </a:effectRef>
      <a:fontRef idx="minor">
        <a:schemeClr val="lt1"/>
      </a:fontRef>
    </p:style>
    <p:txBody>
      <a:bodyPr rtlCol="0" anchor="ctr" wrap="square" lIns="64008" rIns="64008" tIns="27432" bIns="27432"/>
      <a:lstStyle/>
    </p:txBody>
  </p:sp>
  <p:sp>
    <p:nvSpPr>
      <p:cNvPr id="4" name="Rounded Rectangle 3"/>
      <p:cNvSpPr/>
      <p:nvPr/>
    </p:nvSpPr>
    <p:spPr>
      <a:xfrm>
        <a:off x="4178808" y="5394960"/>
        <a:ext cx="1783080" cy="502920"/>
      </a:xfrm>
      <a:prstGeom prst="roundRect">
        <a:avLst/>
      </a:prstGeom>
      <a:solidFill>
        <a:srgbClr val="FFFFFF"/>
      </a:solidFill>
      <a:ln w="15240">
        <a:solidFill>
          <a:srgbClr val="A6192E"/>
        </a:solidFill>
      </a:ln>
      <a:effectLst/>
    </p:spPr>
    <p:style>
      <a:lnRef idx="1">
        <a:schemeClr val="accent1"/>
      </a:lnRef>
      <a:fillRef idx="3">
        <a:schemeClr val="accent1"/>
      </a:fillRef>
      <a:effectRef idx="2">
        <a:schemeClr val="accent1"/>
      </a:effectRef>
      <a:fontRef idx="minor">
        <a:schemeClr val="lt1"/>
      </a:fontRef>
    </p:style>
    <p:txBody>
      <a:bodyPr rtlCol="0" anchor="ctr" wrap="square" lIns="64008" rIns="64008" tIns="27432" bIns="27432"/>
      <a:lstStyle/>
    </p:txBody>
  </p:sp>
  <p:sp>
    <p:nvSpPr>
      <p:cNvPr id="4" name="Rounded Rectangle 3"/>
      <p:cNvSpPr/>
      <p:nvPr/>
    </p:nvSpPr>
    <p:spPr>
      <a:xfrm>
        <a:off x="6144768" y="5394960"/>
        <a:ext cx="1783080" cy="502920"/>
      </a:xfrm>
      <a:prstGeom prst="roundRect">
        <a:avLst/>
      </a:prstGeom>
      <a:solidFill>
        <a:srgbClr val="FFFFFF"/>
      </a:solidFill>
      <a:ln w="15240">
        <a:solidFill>
          <a:srgbClr val="A6192E"/>
        </a:solidFill>
      </a:ln>
      <a:effectLst/>
    </p:spPr>
    <p:style>
      <a:lnRef idx="1">
        <a:schemeClr val="accent1"/>
      </a:lnRef>
      <a:fillRef idx="3">
        <a:schemeClr val="accent1"/>
      </a:fillRef>
      <a:effectRef idx="2">
        <a:schemeClr val="accent1"/>
      </a:effectRef>
      <a:fontRef idx="minor">
        <a:schemeClr val="lt1"/>
      </a:fontRef>
    </p:style>
    <p:txBody>
      <a:bodyPr rtlCol="0" anchor="ctr" wrap="square" lIns="64008" rIns="64008" tIns="27432" bIns="27432"/>
      <a:lstStyle/>
    </p:txBody>
  </p:sp>
  <p:sp>
    <p:nvSpPr>
      <p:cNvPr id="4" name="Rounded Rectangle 3"/>
      <p:cNvSpPr/>
      <p:nvPr/>
    </p:nvSpPr>
    <p:spPr>
      <a:xfrm>
        <a:off x="8110727" y="5394960"/>
        <a:ext cx="1783080" cy="502920"/>
      </a:xfrm>
      <a:prstGeom prst="roundRect">
        <a:avLst/>
      </a:prstGeom>
      <a:solidFill>
        <a:srgbClr val="FFFFFF"/>
      </a:solidFill>
      <a:ln w="15240">
        <a:solidFill>
          <a:srgbClr val="A6192E"/>
        </a:solidFill>
      </a:ln>
      <a:effectLst/>
    </p:spPr>
    <p:style>
      <a:lnRef idx="1">
        <a:schemeClr val="accent1"/>
      </a:lnRef>
      <a:fillRef idx="3">
        <a:schemeClr val="accent1"/>
      </a:fillRef>
      <a:effectRef idx="2">
        <a:schemeClr val="accent1"/>
      </a:effectRef>
      <a:fontRef idx="minor">
        <a:schemeClr val="lt1"/>
      </a:fontRef>
    </p:style>
    <p:txBody>
      <a:bodyPr rtlCol="0" anchor="ctr" wrap="square" lIns="64008" rIns="64008" tIns="27432" bIns="27432"/>
      <a:lstStyle/>
    </p:txBody>
  </p:sp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Presentación del docente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Ing. Rodolfo J. Cañas Cervantes — infraestructura TI crítica, nube híbrida y docencia universitaria.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120640" cy="4343400"/>
          </a:xfrm>
          <a:prstGeom prst="roundRect">
            <a:avLst/>
          </a:prstGeom>
          <a:solidFill>
            <a:srgbClr val="F4F4F4"/>
          </a:solidFill>
          <a:ln w="1524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46634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6192E"/>
                </a:solidFill>
                <a:latin typeface="Segoe UI"/>
              </a:rPr>
              <a:t>Formación académica</a:t>
            </a:r>
          </a:p>
          <a:p>
            <a:pPr algn="l"/>
            <a:r>
              <a:rPr sz="1250" b="0">
                <a:solidFill>
                  <a:srgbClr val="2A2A2A"/>
                </a:solidFill>
                <a:latin typeface="Segoe UI"/>
              </a:rPr>
              <a:t>• Ingeniero de Sistemas — CUC (2002–2009)</a:t>
            </a:r>
          </a:p>
          <a:p>
            <a:pPr algn="l"/>
            <a:r>
              <a:rPr sz="1250" b="0">
                <a:solidFill>
                  <a:srgbClr val="2A2A2A"/>
                </a:solidFill>
                <a:latin typeface="Segoe UI"/>
              </a:rPr>
              <a:t>• Maestría en Ing. de Telecomunicaciones — CUC (2024)</a:t>
            </a:r>
          </a:p>
          <a:p>
            <a:pPr algn="l"/>
            <a:r>
              <a:rPr sz="1250" b="0">
                <a:solidFill>
                  <a:srgbClr val="2A2A2A"/>
                </a:solidFill>
                <a:latin typeface="Segoe UI"/>
              </a:rPr>
              <a:t>• Especialista en Redes Convergentes — CUC</a:t>
            </a:r>
          </a:p>
          <a:p>
            <a:pPr algn="l"/>
            <a:r>
              <a:rPr sz="1250" b="0">
                <a:solidFill>
                  <a:srgbClr val="2A2A2A"/>
                </a:solidFill>
                <a:latin typeface="Segoe UI"/>
              </a:rPr>
              <a:t>• Tecnólogo en Seguridad de Redes — SENA</a:t>
            </a:r>
          </a:p>
          <a:p>
            <a:pPr algn="l"/>
            <a:r>
              <a:rPr sz="600" b="0">
                <a:solidFill>
                  <a:srgbClr val="2A2A2A"/>
                </a:solidFill>
                <a:latin typeface="Segoe UI"/>
              </a:rPr>
              <a:t/>
            </a:r>
          </a:p>
          <a:p>
            <a:pPr algn="l"/>
            <a:r>
              <a:rPr sz="1500" b="1">
                <a:solidFill>
                  <a:srgbClr val="A6192E"/>
                </a:solidFill>
                <a:latin typeface="Segoe UI"/>
              </a:rPr>
              <a:t>Certificaciones</a:t>
            </a:r>
          </a:p>
          <a:p>
            <a:pPr algn="l"/>
            <a:r>
              <a:rPr sz="1250" b="0">
                <a:solidFill>
                  <a:srgbClr val="2A2A2A"/>
                </a:solidFill>
                <a:latin typeface="Segoe UI"/>
              </a:rPr>
              <a:t>• Microsoft Azure Network Engineer Associate (AZ-700)</a:t>
            </a:r>
          </a:p>
          <a:p>
            <a:pPr algn="l"/>
            <a:r>
              <a:rPr sz="1250" b="0">
                <a:solidFill>
                  <a:srgbClr val="2A2A2A"/>
                </a:solidFill>
                <a:latin typeface="Segoe UI"/>
              </a:rPr>
              <a:t>• Microsoft Azure Fundamentals</a:t>
            </a:r>
          </a:p>
          <a:p>
            <a:pPr algn="l"/>
            <a:r>
              <a:rPr sz="1250" b="0">
                <a:solidFill>
                  <a:srgbClr val="2A2A2A"/>
                </a:solidFill>
                <a:latin typeface="Segoe UI"/>
              </a:rPr>
              <a:t>• Interskill AIX Systems Administrator</a:t>
            </a:r>
          </a:p>
          <a:p>
            <a:pPr algn="l"/>
            <a:r>
              <a:rPr sz="1250" b="0">
                <a:solidFill>
                  <a:srgbClr val="2A2A2A"/>
                </a:solidFill>
                <a:latin typeface="Segoe UI"/>
              </a:rPr>
              <a:t>• Agile Explorer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828800"/>
            <a:ext cx="5879592" cy="2011680"/>
          </a:xfrm>
          <a:prstGeom prst="roundRect">
            <a:avLst/>
          </a:prstGeom>
          <a:solidFill>
            <a:srgbClr val="F7E8EA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938528"/>
            <a:ext cx="5440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6192E"/>
                </a:solidFill>
                <a:latin typeface="Segoe UI"/>
              </a:rPr>
              <a:t>Rol actual — 15+ años en infraestructura TI crítica</a:t>
            </a:r>
          </a:p>
          <a:p>
            <a:pPr algn="l"/>
            <a:r>
              <a:rPr sz="1300" b="1">
                <a:solidFill>
                  <a:srgbClr val="2A2A2A"/>
                </a:solidFill>
                <a:latin typeface="Segoe UI"/>
              </a:rPr>
              <a:t>Senior Associate, Systems Administration @ Kyndryl (desde feb. 2025)</a:t>
            </a:r>
          </a:p>
          <a:p>
            <a:pPr algn="l"/>
            <a:r>
              <a:rPr sz="1200" b="0">
                <a:solidFill>
                  <a:srgbClr val="2A2A2A"/>
                </a:solidFill>
                <a:latin typeface="Segoe UI"/>
              </a:rPr>
              <a:t>Administración avanzada Linux: Red Hat y SUSE Enterprise para SAP.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4023360"/>
            <a:ext cx="1417320" cy="530352"/>
          </a:xfrm>
          <a:prstGeom prst="round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2021–2025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023360"/>
            <a:ext cx="437083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Linux Sysadmin @ DB-System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4681728"/>
            <a:ext cx="1417320" cy="530352"/>
          </a:xfrm>
          <a:prstGeom prst="round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2015–2021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681728"/>
            <a:ext cx="437083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Jefe de Red Corporativa — CUC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5340096"/>
            <a:ext cx="1417320" cy="530352"/>
          </a:xfrm>
          <a:prstGeom prst="round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2013–2015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5340096"/>
            <a:ext cx="4370832" cy="5303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Docente de Tiempo Completo — CUC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6035040"/>
            <a:ext cx="5879592" cy="320040"/>
          </a:xfrm>
          <a:prstGeom prst="roundRect">
            <a:avLst/>
          </a:prstGeom>
          <a:solidFill>
            <a:srgbClr val="FBF3D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>
                <a:solidFill>
                  <a:srgbClr val="2A2A2A"/>
                </a:solidFill>
                <a:latin typeface="Segoe UI"/>
              </a:rPr>
              <a:t>Investigador aplicado en OpenStack (Nova, Neutron/OVS, Zun, Cinder, Glance, Horizon) · Miembro Proyecto ASUR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Temario semanal — Calendario 2026-2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16 semanas + receso + cierre · contenido genérico de industria; AWS solo en los laboratorios de práctica.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755648"/>
          <a:ext cx="112928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417320"/>
                <a:gridCol w="5806440"/>
                <a:gridCol w="3291840"/>
              </a:tblGrid>
              <a:tr h="2514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Semana</a:t>
                      </a:r>
                    </a:p>
                  </a:txBody>
                  <a:tcPr marL="45720" marR="45720" marT="9144" marB="9144" anchor="ctr"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Fechas</a:t>
                      </a:r>
                    </a:p>
                  </a:txBody>
                  <a:tcPr marL="45720" marR="45720" marT="9144" marB="9144" anchor="ctr"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Qué se dicta</a:t>
                      </a:r>
                    </a:p>
                  </a:txBody>
                  <a:tcPr marL="45720" marR="45720" marT="9144" marB="9144" anchor="ctr">
                    <a:solidFill>
                      <a:srgbClr val="A61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Evaluación / Hitos</a:t>
                      </a:r>
                    </a:p>
                  </a:txBody>
                  <a:tcPr marL="45720" marR="45720" marT="9144" marB="9144" anchor="ctr">
                    <a:solidFill>
                      <a:srgbClr val="A6192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3–9 ago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Fundamentos de la nube: qué es, modelos de servicio (IaaS/PaaS/SaaS/Serverless), proveedores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Inicio de clases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10–16 ago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Modelos de despliegue: pública, privada, híbrida, multi-nube; protección del acceso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17–23 ago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Almacenamiento en la nube: objetos, bloques, archivos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10% Lab AWS — sitio web estático (Amazon S3)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24–30 ago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Redes en la nube: VPC, subredes, conectividad, grupos de seguridad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10% Lab AWS — red VPC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31 ago–6 sep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Repaso Unidad 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Parcial 1 — 20% rúbrica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7–13 sep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Cómputo en la nube: instancias, tipos, escalado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10% Lab AWS — sitio web dinámico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14–20 sep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Bases de datos en la nube y estrategias de backup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10% Lab AWS — migración a RDS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21–27 sep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Identidad avanzada: roles, políticas, mínimo privilegio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28 sep–4 oct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Elasticidad, alta disponibilidad y monitorización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10% Lab AWS — entorno escalable/HA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R</a:t>
                      </a:r>
                    </a:p>
                  </a:txBody>
                  <a:tcPr marL="45720" marR="45720" marT="9144" marB="9144" anchor="ctr">
                    <a:solidFill>
                      <a:srgbClr val="FBF3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5–11 oct</a:t>
                      </a:r>
                    </a:p>
                  </a:txBody>
                  <a:tcPr marL="45720" marR="45720" marT="9144" marB="9144" anchor="ctr">
                    <a:solidFill>
                      <a:srgbClr val="FBF3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Receso académico</a:t>
                      </a:r>
                    </a:p>
                  </a:txBody>
                  <a:tcPr marL="45720" marR="45720" marT="9144" marB="9144" anchor="ctr">
                    <a:solidFill>
                      <a:srgbClr val="FBF3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BF3D9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12–18 oct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Automatización de infraestructura (IaC) — repaso Unidad 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Parcial 2 — 20% rúbrica · 10% lab automatización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19–25 oct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Caché y distribución de contenido en la nube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26 oct–1 nov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Arquitecturas desacopladas: colas y notificaciones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Último día de retiro: 1 nov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2–8 nov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Serverless y microservicios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10% Lab AWS — arquitectura serverless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9–15 nov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Patrones de ingeniería de datos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15–16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16–29 nov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Recuperación ante desastres (DR) + repaso general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Parcial 3 — 20% rúbrica + 70% examen práctico en vivo</a:t>
                      </a:r>
                    </a:p>
                  </a:txBody>
                  <a:tcPr marL="45720" marR="45720" marT="9144" marB="9144" anchor="ctr">
                    <a:solidFill>
                      <a:srgbClr val="F4F4F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A2A2A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45720" marR="45720" marT="9144" marB="9144" anchor="ctr">
                    <a:solidFill>
                      <a:srgbClr val="FBF3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30 nov–13 dic</a:t>
                      </a:r>
                    </a:p>
                  </a:txBody>
                  <a:tcPr marL="45720" marR="45720" marT="9144" marB="9144" anchor="ctr">
                    <a:solidFill>
                      <a:srgbClr val="FBF3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Cierre administrativo</a:t>
                      </a:r>
                    </a:p>
                  </a:txBody>
                  <a:tcPr marL="45720" marR="45720" marT="9144" marB="9144" anchor="ctr">
                    <a:solidFill>
                      <a:srgbClr val="FBF3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A2A2A"/>
                          </a:solidFill>
                          <a:latin typeface="Segoe UI"/>
                        </a:rPr>
                        <a:t>Notas 1–4 dic · cierre 9–10 dic · grados 11 dic</a:t>
                      </a:r>
                    </a:p>
                  </a:txBody>
                  <a:tcPr marL="45720" marR="45720" marT="9144" marB="9144" anchor="ctr">
                    <a:solidFill>
                      <a:srgbClr val="FBF3D9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¿Qué esperan del curso?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Actividad en vivo — antes de empezar, escuchemos al grupo.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2148840"/>
            <a:ext cx="5120640" cy="1371600"/>
          </a:xfrm>
          <a:prstGeom prst="round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¿Qué esperas aprender de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Arquitectura en la Nube?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3977639"/>
            <a:ext cx="7982712" cy="640080"/>
          </a:xfrm>
          <a:prstGeom prst="roundRect">
            <a:avLst/>
          </a:prstGeom>
          <a:solidFill>
            <a:srgbClr val="FBF3D9"/>
          </a:solidFill>
          <a:ln w="1524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0">
                <a:solidFill>
                  <a:srgbClr val="2A2A2A"/>
                </a:solidFill>
                <a:latin typeface="Segoe UI"/>
              </a:rPr>
              <a:t>Comparte tu expectativa con el grupo — una frase, en voz alta o en el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983480"/>
            <a:ext cx="1874519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3B6EA5"/>
                </a:solidFill>
                <a:latin typeface="Segoe UI"/>
              </a:rPr>
              <a:t>¿Carrera?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983480"/>
            <a:ext cx="1874519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0078D4"/>
                </a:solidFill>
                <a:latin typeface="Segoe UI"/>
              </a:rPr>
              <a:t>¿Certificación?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983480"/>
            <a:ext cx="1874519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4285F4"/>
                </a:solidFill>
                <a:latin typeface="Segoe UI"/>
              </a:rPr>
              <a:t>¿Proyecto propio?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4983480"/>
            <a:ext cx="1874519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1">
                <a:solidFill>
                  <a:srgbClr val="7A5C00"/>
                </a:solidFill>
                <a:latin typeface="Segoe UI"/>
              </a:rPr>
              <a:t>¿Curiosidad?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¿Qué es la computación en la nube?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La nube entrega cómputo, almacenamiento, bases de datos e IA bajo demanda, con pago por uso.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2103120" cy="1188720"/>
          </a:xfrm>
          <a:prstGeom prst="roundRect">
            <a:avLst/>
          </a:prstGeom>
          <a:solidFill>
            <a:srgbClr val="F4F4F4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2A2A2A"/>
                </a:solidFill>
                <a:latin typeface="Segoe UI"/>
              </a:rPr>
              <a:t>Usuario /</a:t>
            </a:r>
          </a:p>
          <a:p>
            <a:pPr algn="ctr"/>
            <a:r>
              <a:rPr sz="1400" b="1">
                <a:solidFill>
                  <a:srgbClr val="2A2A2A"/>
                </a:solidFill>
                <a:latin typeface="Segoe UI"/>
              </a:rPr>
              <a:t>Empresa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80360" y="3429000"/>
            <a:ext cx="77724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2" name="Cloud 11"/>
          <p:cNvSpPr/>
          <p:nvPr/>
        </p:nvSpPr>
        <p:spPr>
          <a:xfrm>
            <a:off x="3794760" y="3017520"/>
            <a:ext cx="2011680" cy="1188720"/>
          </a:xfrm>
          <a:prstGeom prst="cloud">
            <a:avLst/>
          </a:prstGeom>
          <a:solidFill>
            <a:srgbClr val="FFFFFF"/>
          </a:solidFill>
          <a:ln w="1905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>
                <a:solidFill>
                  <a:srgbClr val="3B6EA5"/>
                </a:solidFill>
                <a:latin typeface="Segoe UI"/>
              </a:rPr>
              <a:t>Internet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9320" y="3429000"/>
            <a:ext cx="77724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743200"/>
            <a:ext cx="2377440" cy="1737360"/>
          </a:xfrm>
          <a:prstGeom prst="round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Data center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del proveedor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(AWS · Azure · GCP · OCI)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18320" y="3429000"/>
            <a:ext cx="77724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1965960"/>
            <a:ext cx="1417320" cy="777240"/>
          </a:xfrm>
          <a:prstGeom prst="roundRect">
            <a:avLst/>
          </a:prstGeom>
          <a:solidFill>
            <a:srgbClr val="F7E8EA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A6192E"/>
                </a:solidFill>
                <a:latin typeface="Segoe UI"/>
              </a:rPr>
              <a:t>Cómputo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2926080"/>
            <a:ext cx="1417320" cy="777240"/>
          </a:xfrm>
          <a:prstGeom prst="roundRect">
            <a:avLst/>
          </a:prstGeom>
          <a:solidFill>
            <a:srgbClr val="F7E8EA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A6192E"/>
                </a:solidFill>
                <a:latin typeface="Segoe UI"/>
              </a:rPr>
              <a:t>Almacenamiento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3886200"/>
            <a:ext cx="1417320" cy="777240"/>
          </a:xfrm>
          <a:prstGeom prst="roundRect">
            <a:avLst/>
          </a:prstGeom>
          <a:solidFill>
            <a:srgbClr val="F7E8EA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A6192E"/>
                </a:solidFill>
                <a:latin typeface="Segoe UI"/>
              </a:rPr>
              <a:t>Bases de datos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4846320"/>
            <a:ext cx="1417320" cy="777240"/>
          </a:xfrm>
          <a:prstGeom prst="roundRect">
            <a:avLst/>
          </a:prstGeom>
          <a:solidFill>
            <a:srgbClr val="F7E8EA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A6192E"/>
                </a:solidFill>
                <a:latin typeface="Segoe UI"/>
              </a:rPr>
              <a:t>IA /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1109960" cy="868680"/>
          </a:xfrm>
          <a:prstGeom prst="roundRect">
            <a:avLst/>
          </a:prstGeom>
          <a:solidFill>
            <a:srgbClr val="FBF3D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0">
                <a:solidFill>
                  <a:srgbClr val="2A2A2A"/>
                </a:solidFill>
                <a:latin typeface="Segoe UI"/>
              </a:rPr>
              <a:t>Bajo demanda: se provisiona en minutos, sin comprar hardware.   ·   Pago por uso: se factura lo consumido (OpEx), no la capacidad instalada (CapEx).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Zonas de Disponibilidad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Una región se divide en varias zonas de disponibilidad (AZ) — datacenters físicamente separados para alta disponibilidad.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0927080" cy="3611880"/>
          </a:xfrm>
          <a:prstGeom prst="roundRect">
            <a:avLst/>
          </a:prstGeom>
          <a:noFill/>
          <a:ln w="254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B6EA5"/>
                </a:solidFill>
                <a:latin typeface="Segoe UI"/>
              </a:rPr>
              <a:t>REGIÓN (ej. us-east-1)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31720"/>
            <a:ext cx="3337560" cy="2834640"/>
          </a:xfrm>
          <a:prstGeom prst="roundRect">
            <a:avLst/>
          </a:prstGeom>
          <a:solidFill>
            <a:srgbClr val="F4F4F4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9572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7A5C00"/>
                </a:solidFill>
                <a:latin typeface="Segoe UI"/>
              </a:rPr>
              <a:t>Zona de disponibilidad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2788920"/>
            <a:ext cx="26974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Datacenter 1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energía · refrigeración · red propias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3931920"/>
            <a:ext cx="26974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Datacenter 2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energía · refrigeración · red propias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331720"/>
            <a:ext cx="3337560" cy="2834640"/>
          </a:xfrm>
          <a:prstGeom prst="roundRect">
            <a:avLst/>
          </a:prstGeom>
          <a:solidFill>
            <a:srgbClr val="F4F4F4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39572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7A5C00"/>
                </a:solidFill>
                <a:latin typeface="Segoe UI"/>
              </a:rPr>
              <a:t>Zona de disponibilidad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788920"/>
            <a:ext cx="26974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Datacenter 1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energía · refrigeración · red propias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931920"/>
            <a:ext cx="26974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Datacenter 2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energía · refrigeración · red propias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331720"/>
            <a:ext cx="3337560" cy="2834640"/>
          </a:xfrm>
          <a:prstGeom prst="roundRect">
            <a:avLst/>
          </a:prstGeom>
          <a:solidFill>
            <a:srgbClr val="F4F4F4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395728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7A5C00"/>
                </a:solidFill>
                <a:latin typeface="Segoe UI"/>
              </a:rPr>
              <a:t>Zona de disponibilidad 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2788920"/>
            <a:ext cx="26974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Datacenter 1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energía · refrigeración · red propias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931920"/>
            <a:ext cx="26974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Datacenter 2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energía · refrigeración · red propias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23560"/>
            <a:ext cx="10927080" cy="685800"/>
          </a:xfrm>
          <a:prstGeom prst="roundRect">
            <a:avLst/>
          </a:prstGeom>
          <a:solidFill>
            <a:srgbClr val="F7E8EA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>Desplegar en 2+ AZ = alta disponibilidad real (sismo, corte eléctrico o desastre en una zona no tumba la aplicación).  ·  AWS, Azure y GCP aplican el mismo patrón región → AZ.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Antes de la nube: on-premise y escalamiento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Antes de la nube: infraestructura propia, hipervisor y escalamiento vertical vs. horizontal (CapEx · lento).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486400" cy="4434840"/>
          </a:xfrm>
          <a:prstGeom prst="roundRect">
            <a:avLst/>
          </a:prstGeom>
          <a:solidFill>
            <a:srgbClr val="F4F4F4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6192E"/>
                </a:solidFill>
                <a:latin typeface="Segoe UI"/>
              </a:rPr>
              <a:t>On-premise: infraestructura propia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77440"/>
            <a:ext cx="47548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0">
                <a:solidFill>
                  <a:srgbClr val="2A2A2A"/>
                </a:solidFill>
                <a:latin typeface="Segoe UI"/>
              </a:rPr>
              <a:t>VM 1 · VM 2 · VM 3 — sistemas aislados entre sí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71800"/>
            <a:ext cx="4754880" cy="502920"/>
          </a:xfrm>
          <a:prstGeom prst="round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Hipervisor (VMware ESXi · Hyper-V · KVM)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11880"/>
            <a:ext cx="4754880" cy="548640"/>
          </a:xfrm>
          <a:prstGeom prst="round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Servidor físico propio (comprado: CapEx)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5120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2A2A"/>
                </a:solidFill>
                <a:latin typeface="Segoe UI"/>
              </a:rPr>
              <a:t>Implicaciones: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• Compra y renovación de hardware cada 3–5 años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• Capacidad fija: se dimensiona para el pico, no para el promedio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• Aprovisionar un servidor nuevo: semanas, no minutos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5468112" cy="4434840"/>
          </a:xfrm>
          <a:prstGeom prst="roundRect">
            <a:avLst/>
          </a:prstGeom>
          <a:solidFill>
            <a:srgbClr val="F7E8EA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20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6192E"/>
                </a:solidFill>
                <a:latin typeface="Segoe UI"/>
              </a:rPr>
              <a:t>Dos formas de escalar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377440"/>
            <a:ext cx="2514600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688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A5C00"/>
                </a:solidFill>
                <a:latin typeface="Segoe UI"/>
              </a:rPr>
              <a:t>Vertical (scale up)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063240"/>
            <a:ext cx="1691640" cy="64008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Servidor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+ CPU + RAM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7589520" y="3794760"/>
            <a:ext cx="228600" cy="411480"/>
          </a:xfrm>
          <a:prstGeom prst="downArrow">
            <a:avLst/>
          </a:prstGeom>
          <a:solidFill>
            <a:srgbClr val="7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297680"/>
            <a:ext cx="1691640" cy="640080"/>
          </a:xfrm>
          <a:prstGeom prst="roundRect">
            <a:avLst/>
          </a:prstGeom>
          <a:solidFill>
            <a:srgbClr val="7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1 servidor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más grande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74920"/>
            <a:ext cx="2331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Segoe UI"/>
              </a:rPr>
              <a:t>Límite físico real: la placa madre no crece infinito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377440"/>
            <a:ext cx="2514600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46888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285F4"/>
                </a:solidFill>
                <a:latin typeface="Segoe UI"/>
              </a:rPr>
              <a:t>Horizontal (scale out)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2926080"/>
            <a:ext cx="1691640" cy="502920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Balanceador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3611880"/>
            <a:ext cx="1691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4285F4"/>
                </a:solidFill>
                <a:latin typeface="Segoe UI"/>
              </a:rPr>
              <a:t>nodo n1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178808"/>
            <a:ext cx="1691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4285F4"/>
                </a:solidFill>
                <a:latin typeface="Segoe UI"/>
              </a:rPr>
              <a:t>nodo n2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4745736"/>
            <a:ext cx="1691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4285F4"/>
                </a:solidFill>
                <a:latin typeface="Segoe UI"/>
              </a:rPr>
              <a:t>nodo n3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53949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Segoe UI"/>
              </a:rPr>
              <a:t>Agregar más nodos, sin límite físico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Antes de la nube vs. con la nube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Comparación directa: invertir (CapEx) vs. consumir (OpEx), con auto scaling y multi-tenant de por medio.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440680" cy="502920"/>
          </a:xfrm>
          <a:prstGeom prst="round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ANTES — infraestructura propia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68112" cy="502920"/>
          </a:xfrm>
          <a:prstGeom prst="round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CON LA NUBE — consumo bajo demanda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1737360" cy="658368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>
                <a:solidFill>
                  <a:srgbClr val="2A2A2A"/>
                </a:solidFill>
                <a:latin typeface="Segoe UI"/>
              </a:rPr>
              <a:t>Modelo económico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468880"/>
            <a:ext cx="3657600" cy="658368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CapEx: comprar hardware por adelantado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68880"/>
            <a:ext cx="5468112" cy="658368"/>
          </a:xfrm>
          <a:prstGeom prst="roundRect">
            <a:avLst/>
          </a:prstGeom>
          <a:solidFill>
            <a:srgbClr val="F7E8EA"/>
          </a:solidFill>
          <a:ln w="9525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OpEx: pagar solo lo consumido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18688"/>
            <a:ext cx="1737360" cy="658368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>
                <a:solidFill>
                  <a:srgbClr val="2A2A2A"/>
                </a:solidFill>
                <a:latin typeface="Segoe UI"/>
              </a:rPr>
              <a:t>Capacidad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3218688"/>
            <a:ext cx="3657600" cy="658368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Fija, dimensionada para el pico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18688"/>
            <a:ext cx="5468112" cy="658368"/>
          </a:xfrm>
          <a:prstGeom prst="roundRect">
            <a:avLst/>
          </a:prstGeom>
          <a:solidFill>
            <a:srgbClr val="F7E8EA"/>
          </a:solidFill>
          <a:ln w="9525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Elástica: auto scaling según demanda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68496"/>
            <a:ext cx="1737360" cy="658368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>
                <a:solidFill>
                  <a:srgbClr val="2A2A2A"/>
                </a:solidFill>
                <a:latin typeface="Segoe UI"/>
              </a:rPr>
              <a:t>Aprovisionamiento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3968496"/>
            <a:ext cx="3657600" cy="658368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Semanas (compra, instalación, configuración)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968496"/>
            <a:ext cx="5468112" cy="658368"/>
          </a:xfrm>
          <a:prstGeom prst="roundRect">
            <a:avLst/>
          </a:prstGeom>
          <a:solidFill>
            <a:srgbClr val="F7E8EA"/>
          </a:solidFill>
          <a:ln w="9525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Minutos (API, consola, IaC)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18304"/>
            <a:ext cx="1737360" cy="658368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>
                <a:solidFill>
                  <a:srgbClr val="2A2A2A"/>
                </a:solidFill>
                <a:latin typeface="Segoe UI"/>
              </a:rPr>
              <a:t>Tenencia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4718304"/>
            <a:ext cx="3657600" cy="658368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Single-tenant: todo es de una organización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718304"/>
            <a:ext cx="5468112" cy="658368"/>
          </a:xfrm>
          <a:prstGeom prst="roundRect">
            <a:avLst/>
          </a:prstGeom>
          <a:solidFill>
            <a:srgbClr val="F7E8EA"/>
          </a:solidFill>
          <a:ln w="9525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Multi-tenant: hardware compartido, aislado lógicamente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68112"/>
            <a:ext cx="1737360" cy="658368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>
                <a:solidFill>
                  <a:srgbClr val="2A2A2A"/>
                </a:solidFill>
                <a:latin typeface="Segoe UI"/>
              </a:rPr>
              <a:t>Riesgo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0280" y="5468112"/>
            <a:ext cx="3657600" cy="658368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Sobrecapacidad ociosa o subcapacidad en picos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468112"/>
            <a:ext cx="5468112" cy="658368"/>
          </a:xfrm>
          <a:prstGeom prst="roundRect">
            <a:avLst/>
          </a:prstGeom>
          <a:solidFill>
            <a:srgbClr val="F7E8EA"/>
          </a:solidFill>
          <a:ln w="9525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Costo variable; se gobierna con presupuestos y alarmas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Los grandes proveedores de la nube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Cuatro proveedores dominan el mercado — el curso los trata a todos con el mismo rigor conceptual.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56235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64592" cy="2057400"/>
          </a:xfrm>
          <a:prstGeom prst="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D7100"/>
                </a:solidFill>
                <a:latin typeface="Segoe UI"/>
              </a:rPr>
              <a:t>Amazon Web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Cartera más amplia y pionera en cómputo a demanda · +30% del mercado global · EC2, S3 · Caso de estudio del curso (AWS Academy)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56235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164592" cy="2057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6596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8D4"/>
                </a:solidFill>
                <a:latin typeface="Segoe UI"/>
              </a:rPr>
              <a:t>Microsoft Azure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Segunda en cuota global · Integración nativa con Active Directory, Microsoft 365, SQL Server y Windows Server · ExpressRoute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69080"/>
            <a:ext cx="56235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69080"/>
            <a:ext cx="164592" cy="2057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062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285F4"/>
                </a:solidFill>
                <a:latin typeface="Segoe UI"/>
              </a:rPr>
              <a:t>Google Cloud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Orientada a datos, analítica e IA · Kubernetes nació aquí · BigQuery, Cloud Run, Cloud Functions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069080"/>
            <a:ext cx="562356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4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069080"/>
            <a:ext cx="164592" cy="2057400"/>
          </a:xfrm>
          <a:prstGeom prst="rect">
            <a:avLst/>
          </a:prstGeom>
          <a:solidFill>
            <a:srgbClr val="C74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062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74634"/>
                </a:solidFill>
                <a:latin typeface="Segoe UI"/>
              </a:rPr>
              <a:t>Oracle Cloud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70916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Cargas de misión crítica · Autonomous Database · Pricing competitivo (hasta 50% más económico) · Nivel Always Free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920240"/>
            <a:ext cx="685800" cy="4572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1920240"/>
            <a:ext cx="457200" cy="4572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4160520"/>
            <a:ext cx="1645920" cy="259689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0" y="4160520"/>
            <a:ext cx="1371600" cy="1810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Modelo de servicio: IaaS, PaaS,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Una sola taxonomía de industria — los tres grandes proveedores mapean sus servicios igual.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8327" y="1920240"/>
            <a:ext cx="603504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8327" y="1920240"/>
            <a:ext cx="1051560" cy="1188720"/>
          </a:xfrm>
          <a:prstGeom prst="round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SaaS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81047" y="3246120"/>
            <a:ext cx="8229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81047" y="3246120"/>
            <a:ext cx="1051560" cy="1188720"/>
          </a:xfrm>
          <a:prstGeom prst="roundRect">
            <a:avLst/>
          </a:prstGeom>
          <a:solidFill>
            <a:srgbClr val="7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PaaS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767" y="4572000"/>
            <a:ext cx="104241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3767" y="4572000"/>
            <a:ext cx="1051560" cy="1188720"/>
          </a:xfrm>
          <a:prstGeom prst="round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IaaS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943600"/>
            <a:ext cx="10927080" cy="457200"/>
          </a:xfrm>
          <a:prstGeom prst="roundRect">
            <a:avLst/>
          </a:prstGeom>
          <a:solidFill>
            <a:srgbClr val="FBF3D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0">
                <a:solidFill>
                  <a:srgbClr val="2A2A2A"/>
                </a:solidFill>
                <a:latin typeface="Segoe UI"/>
              </a:rPr>
              <a:t>Menos control del cliente arriba (más gestiona el proveedor) · más control del cliente abajo (más gestiona el cliente).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4312767" y="2194560"/>
            <a:ext cx="14020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343" y="2432304"/>
            <a:ext cx="164592" cy="16459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4550511" y="2194560"/>
            <a:ext cx="11643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latin typeface="Segoe UI"/>
              </a:defRPr>
            </a:pPr>
            <a:r>
              <a:t>Google Workspace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852007" y="2194560"/>
            <a:ext cx="14020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583" y="2432304"/>
            <a:ext cx="164592" cy="16459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089751" y="2194560"/>
            <a:ext cx="11643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latin typeface="Segoe UI"/>
              </a:defRPr>
            </a:pPr>
            <a:r>
              <a:t>Microsoft 365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391247" y="2194560"/>
            <a:ext cx="14020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7823" y="2432304"/>
            <a:ext cx="164592" cy="164592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7628991" y="2194560"/>
            <a:ext cx="11643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latin typeface="Segoe UI"/>
              </a:defRPr>
            </a:pPr>
            <a:r>
              <a:t>Looker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215487" y="3520439"/>
            <a:ext cx="2133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61207" y="3730751"/>
            <a:ext cx="219456" cy="219456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3526383" y="3520439"/>
            <a:ext cx="18227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latin typeface="Segoe UI"/>
              </a:defRPr>
            </a:pPr>
            <a:r>
              <a:t>AWS Elastic Beanstalk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486247" y="3520439"/>
            <a:ext cx="2133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31967" y="3730751"/>
            <a:ext cx="219456" cy="219456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5797143" y="3520439"/>
            <a:ext cx="18227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latin typeface="Segoe UI"/>
              </a:defRPr>
            </a:pPr>
            <a:r>
              <a:t>Azure App Service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757007" y="3520439"/>
            <a:ext cx="213360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02727" y="3730751"/>
            <a:ext cx="219456" cy="219456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067903" y="3520439"/>
            <a:ext cx="18227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latin typeface="Segoe UI"/>
              </a:defRPr>
            </a:pPr>
            <a:r>
              <a:t>Google Cloud Run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118207" y="4846320"/>
            <a:ext cx="28651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91359" y="5029200"/>
            <a:ext cx="274320" cy="27432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2538831" y="4846320"/>
            <a:ext cx="244449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latin typeface="Segoe UI"/>
              </a:defRPr>
            </a:pPr>
            <a:r>
              <a:t>Amazon EC2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120487" y="4846320"/>
            <a:ext cx="28651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93639" y="5029200"/>
            <a:ext cx="274320" cy="27432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5541111" y="4846320"/>
            <a:ext cx="244449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latin typeface="Segoe UI"/>
              </a:defRPr>
            </a:pPr>
            <a:r>
              <a:t>Azure Virtual Machines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122767" y="4846320"/>
            <a:ext cx="28651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5919" y="5029200"/>
            <a:ext cx="274320" cy="27432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8543391" y="4846320"/>
            <a:ext cx="244449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latin typeface="Segoe UI"/>
              </a:defRPr>
            </a:pPr>
            <a:r>
              <a:t>Google Compute Engine</a:t>
            </a:r>
          </a:p>
        </p:txBody>
      </p:sp>
      <p:sp>
        <p:nvSpPr>
          <p:cNvPr id="116" name="TextBox 115"/>
          <p:cNvSpPr txBox="1"/>
          <p:nvPr/>
        </p:nvSpPr>
        <p:spPr>
          <a:xfrm rot="16200000">
            <a:off x="-1207008" y="3794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A2A2A"/>
                </a:solidFill>
              </a:defRPr>
            </a:pPr>
            <a:r>
              <a:t>↑ MENOS control del cliente</a:t>
            </a:r>
          </a:p>
        </p:txBody>
      </p:sp>
      <p:sp>
        <p:nvSpPr>
          <p:cNvPr id="117" name="TextBox 116"/>
          <p:cNvSpPr txBox="1"/>
          <p:nvPr/>
        </p:nvSpPr>
        <p:spPr>
          <a:xfrm rot="5400000">
            <a:off x="10012680" y="3794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A2A2A"/>
                </a:solidFill>
              </a:defRPr>
            </a:pPr>
            <a:r>
              <a:t>↓ MÁS control del cliente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Modelo de servicio: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SaaS = estrato más alto de abstracción: el usuario solo consume; el proveedor gestiona todo el resto.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2011680" cy="1371600"/>
          </a:xfrm>
          <a:prstGeom prst="roundRect">
            <a:avLst/>
          </a:prstGeom>
          <a:solidFill>
            <a:srgbClr val="F4F4F4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2A2A2A"/>
                </a:solidFill>
                <a:latin typeface="Segoe UI"/>
              </a:rPr>
              <a:t>Usuario final</a:t>
            </a:r>
          </a:p>
          <a:p>
            <a:pPr algn="ctr"/>
            <a:r>
              <a:rPr sz="1300" b="1">
                <a:solidFill>
                  <a:srgbClr val="2A2A2A"/>
                </a:solidFill>
                <a:latin typeface="Segoe UI"/>
              </a:rPr>
              <a:t>(navegador / app)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3337560"/>
            <a:ext cx="7315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965960"/>
            <a:ext cx="4023360" cy="3108960"/>
          </a:xfrm>
          <a:prstGeom prst="roundRect">
            <a:avLst/>
          </a:prstGeom>
          <a:solidFill>
            <a:srgbClr val="F7E8EA"/>
          </a:solidFill>
          <a:ln w="1905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05740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6192E"/>
                </a:solidFill>
                <a:latin typeface="Segoe UI"/>
              </a:rPr>
              <a:t>Aplicación SaaS completa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514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Segoe UI"/>
              </a:rPr>
              <a:t>Google Workspace · Microsoft 365 · Looker · Salesforce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2971800"/>
            <a:ext cx="35661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1">
                <a:solidFill>
                  <a:srgbClr val="A6192E"/>
                </a:solidFill>
                <a:latin typeface="Segoe UI"/>
              </a:rPr>
              <a:t>El usuario solo: inicia sesión y trabaja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3657600"/>
            <a:ext cx="356616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0">
                <a:solidFill>
                  <a:srgbClr val="2A2A2A"/>
                </a:solidFill>
                <a:latin typeface="Segoe UI"/>
              </a:rPr>
              <a:t>No instala · no parchea · no dimensiona servidores · no gestiona respaldos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965960"/>
            <a:ext cx="3749039" cy="310896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574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7A5C00"/>
                </a:solidFill>
                <a:latin typeface="Segoe UI"/>
              </a:rPr>
              <a:t>El proveedor gestiona TODO: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468880"/>
            <a:ext cx="329184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Aplicación y datos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898648"/>
            <a:ext cx="3291840" cy="36576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Runtime y middleware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328416"/>
            <a:ext cx="3291840" cy="365760"/>
          </a:xfrm>
          <a:prstGeom prst="roundRect">
            <a:avLst/>
          </a:prstGeom>
          <a:solidFill>
            <a:srgbClr val="FB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>
                <a:solidFill>
                  <a:srgbClr val="2A2A2A"/>
                </a:solidFill>
                <a:latin typeface="Segoe UI"/>
              </a:rPr>
              <a:t>Sistema operativo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758184"/>
            <a:ext cx="3291840" cy="365760"/>
          </a:xfrm>
          <a:prstGeom prst="roundRect">
            <a:avLst/>
          </a:prstGeom>
          <a:solidFill>
            <a:srgbClr val="FB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>
                <a:solidFill>
                  <a:srgbClr val="2A2A2A"/>
                </a:solidFill>
                <a:latin typeface="Segoe UI"/>
              </a:rPr>
              <a:t>Virtualización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4187952"/>
            <a:ext cx="3291840" cy="365760"/>
          </a:xfrm>
          <a:prstGeom prst="roundRect">
            <a:avLst/>
          </a:prstGeom>
          <a:solidFill>
            <a:srgbClr val="FB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>
                <a:solidFill>
                  <a:srgbClr val="2A2A2A"/>
                </a:solidFill>
                <a:latin typeface="Segoe UI"/>
              </a:rPr>
              <a:t>Servidores y almacenamiento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4617720"/>
            <a:ext cx="3291840" cy="365760"/>
          </a:xfrm>
          <a:prstGeom prst="roundRect">
            <a:avLst/>
          </a:prstGeom>
          <a:solidFill>
            <a:srgbClr val="FB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>
                <a:solidFill>
                  <a:srgbClr val="2A2A2A"/>
                </a:solidFill>
                <a:latin typeface="Segoe UI"/>
              </a:rPr>
              <a:t>Red y datacenter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155680" cy="731520"/>
          </a:xfrm>
          <a:prstGeom prst="roundRect">
            <a:avLst/>
          </a:prstGeom>
          <a:solidFill>
            <a:srgbClr val="F7E8EA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0">
                <a:solidFill>
                  <a:srgbClr val="2A2A2A"/>
                </a:solidFill>
                <a:latin typeface="Segoe UI"/>
              </a:rPr>
              <a:t>Ejemplo cotidiano: cuando usas Gmail o Microsoft 365 estás consumiendo SaaS — nunca te preguntaste en qué servidor corre.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Modelo de servicio: Serverless (FaaS)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Subes una función con un disparador y la nube ejecuta bajo demanda — tres proveedores, mismo patrón.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3017520" cy="914400"/>
          </a:xfrm>
          <a:prstGeom prst="roundRect">
            <a:avLst/>
          </a:prstGeom>
          <a:solidFill>
            <a:srgbClr val="FBF3D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1">
                <a:solidFill>
                  <a:srgbClr val="7A5C00"/>
                </a:solidFill>
                <a:latin typeface="Segoe UI"/>
              </a:rPr>
              <a:t>Disparador (trigger)</a:t>
            </a:r>
          </a:p>
          <a:p>
            <a:pPr algn="ctr"/>
            <a:r>
              <a:rPr sz="1150" b="1">
                <a:solidFill>
                  <a:srgbClr val="7A5C00"/>
                </a:solidFill>
                <a:latin typeface="Segoe UI"/>
              </a:rPr>
              <a:t>HTTP · cola · archivo nuevo · horario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03320" y="2468880"/>
            <a:ext cx="7315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94560"/>
            <a:ext cx="3017520" cy="914400"/>
          </a:xfrm>
          <a:prstGeom prst="round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Función (código)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subida por el desarrollador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26679" y="2468880"/>
            <a:ext cx="7315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194560"/>
            <a:ext cx="3017520" cy="914400"/>
          </a:xfrm>
          <a:prstGeom prst="round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La nube ejecuta y escala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0 → N instancias automáticamente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A2A2A"/>
                </a:solidFill>
                <a:latin typeface="Segoe UI"/>
              </a:rPr>
              <a:t>Sin servidores que administrar: no hay SO, ni parches, ni capacidad que dimensionar. Se paga por ejecución, no por tiempo encendido.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4023360"/>
            <a:ext cx="2834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ED7100"/>
                </a:solidFill>
                <a:latin typeface="Segoe UI"/>
              </a:rPr>
              <a:t>AWS Lambda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023360"/>
            <a:ext cx="2834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0078D4"/>
                </a:solidFill>
                <a:latin typeface="Segoe UI"/>
              </a:rPr>
              <a:t>Azure Functions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4023360"/>
            <a:ext cx="28346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4285F4"/>
                </a:solidFill>
                <a:latin typeface="Segoe UI"/>
              </a:rPr>
              <a:t>Google Cloud Functions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94960"/>
            <a:ext cx="11064240" cy="777240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>Casos de uso: procesar un archivo al subirlo al bucket · responder webhooks · tareas programadas · backends de bajo tráfico con costo casi cero.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Arquitectura en la Nube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D4AF37"/>
                </a:solidFill>
                <a:latin typeface="Segoe UI"/>
              </a:rPr>
              <a:t>Modelos de Despliegue y Seguridad del Acceso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egoe UI"/>
              </a:rPr>
              <a:t>Semana 2 · Ing. Rodolfo Cañas Cervantes · CUC — 2026-2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Modelos de despliegue de la nube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Cuatro formas de desplegar infraestructura — vista general antes de profundizar en cada una.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2606040" cy="3017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2606040" cy="594360"/>
          </a:xfrm>
          <a:prstGeom prst="roundRect">
            <a:avLst/>
          </a:prstGeom>
          <a:solidFill>
            <a:srgbClr val="ED7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Nube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2331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Infraestructura del proveedor, compartida (multi-tenant), pago por uso.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2103120"/>
            <a:ext cx="2606040" cy="3017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103120"/>
            <a:ext cx="2606040" cy="5943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Nube privada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880360"/>
            <a:ext cx="2331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Dedicada a una sola organización: control total, a cambio de CapEx.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2606040" cy="3017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103120"/>
            <a:ext cx="2606040" cy="594360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Nube híbrida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880360"/>
            <a:ext cx="2331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On-premise + pública conectadas: lo sensible en casa, lo elástico afuera.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2103120"/>
            <a:ext cx="2606040" cy="3017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2103120"/>
            <a:ext cx="2606040" cy="594360"/>
          </a:xfrm>
          <a:prstGeom prst="roundRect">
            <a:avLst/>
          </a:prstGeom>
          <a:solidFill>
            <a:srgbClr val="7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Multi-nube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880360"/>
            <a:ext cx="23317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El mismo workload en 2+ proveedores, para reducir el vendor lock-in.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86400"/>
            <a:ext cx="11155680" cy="731520"/>
          </a:xfrm>
          <a:prstGeom prst="roundRect">
            <a:avLst/>
          </a:prstGeom>
          <a:solidFill>
            <a:srgbClr val="FBF3D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50" b="0">
                <a:solidFill>
                  <a:srgbClr val="2A2A2A"/>
                </a:solidFill>
                <a:latin typeface="Segoe UI"/>
              </a:rPr>
              <a:t>Ningún modelo es "el correcto": la decisión depende de regulación, datos sensibles, costos y estrategia de la organización.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Modelo de despliegue: Nube pública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Infraestructura del proveedor, multi-tenant, pago por uso — la base del modelo dominante.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7498079" cy="3657600"/>
          </a:xfrm>
          <a:prstGeom prst="roundRect">
            <a:avLst/>
          </a:prstGeom>
          <a:solidFill>
            <a:srgbClr val="F4F4F4"/>
          </a:solidFill>
          <a:ln w="254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3B6EA5"/>
                </a:solidFill>
                <a:latin typeface="Segoe UI"/>
              </a:rPr>
              <a:t>Infraestructura del proveedor (compartida)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06040"/>
            <a:ext cx="1600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A6192E"/>
                </a:solidFill>
                <a:latin typeface="Segoe UI"/>
              </a:rPr>
              <a:t>Tenant A</a:t>
            </a:r>
          </a:p>
          <a:p>
            <a:pPr algn="ctr"/>
            <a:r>
              <a:rPr sz="1100" b="1">
                <a:solidFill>
                  <a:srgbClr val="A6192E"/>
                </a:solidFill>
                <a:latin typeface="Segoe UI"/>
              </a:rPr>
              <a:t>(empresa 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606040"/>
            <a:ext cx="1600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0078D4"/>
                </a:solidFill>
                <a:latin typeface="Segoe UI"/>
              </a:rPr>
              <a:t>Tenant B</a:t>
            </a:r>
          </a:p>
          <a:p>
            <a:pPr algn="ctr"/>
            <a:r>
              <a:rPr sz="1100" b="1">
                <a:solidFill>
                  <a:srgbClr val="0078D4"/>
                </a:solidFill>
                <a:latin typeface="Segoe UI"/>
              </a:rPr>
              <a:t>(empresa 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606040"/>
            <a:ext cx="1600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4285F4"/>
                </a:solidFill>
                <a:latin typeface="Segoe UI"/>
              </a:rPr>
              <a:t>Tenant C</a:t>
            </a:r>
          </a:p>
          <a:p>
            <a:pPr algn="ctr"/>
            <a:r>
              <a:rPr sz="1100" b="1">
                <a:solidFill>
                  <a:srgbClr val="4285F4"/>
                </a:solidFill>
                <a:latin typeface="Segoe UI"/>
              </a:rPr>
              <a:t>(empresa 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606040"/>
            <a:ext cx="16002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1">
                <a:solidFill>
                  <a:srgbClr val="7A5C00"/>
                </a:solidFill>
                <a:latin typeface="Segoe UI"/>
              </a:rPr>
              <a:t>Tenant D</a:t>
            </a:r>
          </a:p>
          <a:p>
            <a:pPr algn="ctr"/>
            <a:r>
              <a:rPr sz="1100" b="1">
                <a:solidFill>
                  <a:srgbClr val="7A5C00"/>
                </a:solidFill>
                <a:latin typeface="Segoe UI"/>
              </a:rPr>
              <a:t>(empresa 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6949440" cy="548640"/>
          </a:xfrm>
          <a:prstGeom prst="round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Aislamiento lógico entre tenants: cada uno ve solo sus recursos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6949440" cy="640080"/>
          </a:xfrm>
          <a:prstGeom prst="roundRect">
            <a:avLst/>
          </a:prstGeom>
          <a:solidFill>
            <a:srgbClr val="FBF3D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00" b="0">
                <a:solidFill>
                  <a:srgbClr val="2A2A2A"/>
                </a:solidFill>
                <a:latin typeface="Segoe UI"/>
              </a:rPr>
              <a:t>Hardware del proveedor amortizado entre miles de clientes → menor costo por unidad de cómputo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965960"/>
            <a:ext cx="3291840" cy="3657600"/>
          </a:xfrm>
          <a:prstGeom prst="roundRect">
            <a:avLst/>
          </a:prstGeom>
          <a:solidFill>
            <a:srgbClr val="F7E8EA"/>
          </a:solidFill>
          <a:ln w="15875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103120"/>
            <a:ext cx="29260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6192E"/>
                </a:solidFill>
                <a:latin typeface="Segoe UI"/>
              </a:rPr>
              <a:t>Características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• Elasticidad casi ilimitada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• OpEx, sin inversión inicial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• AWS · Azure · GCP · OCI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• El cliente no ve ni gestiona el hardware físico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Topología de red en la nube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Región → VPC → subred pública + subred privada — mismo patrón en AWS (VPC), Azure (VNet) y GCP (VPC).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8229600" cy="4160520"/>
          </a:xfrm>
          <a:prstGeom prst="roundRect">
            <a:avLst/>
          </a:prstGeom>
          <a:noFill/>
          <a:ln w="22225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B6EA5"/>
                </a:solidFill>
                <a:latin typeface="Segoe UI"/>
              </a:rPr>
              <a:t>REGIÓN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40280"/>
            <a:ext cx="7680960" cy="347472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6192E"/>
                </a:solidFill>
                <a:latin typeface="Segoe UI"/>
              </a:rPr>
              <a:t>VPC / VNet — red virtual propia (ej. 10.0.0.0/16)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697480"/>
            <a:ext cx="3566160" cy="2834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432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Segoe UI"/>
              </a:rPr>
              <a:t>Subred pública (10.0.1.0/24)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3154680"/>
            <a:ext cx="3108960" cy="548640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Internet Gateway / NAT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840480"/>
            <a:ext cx="31089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4285F4"/>
                </a:solidFill>
                <a:latin typeface="Segoe UI"/>
              </a:rPr>
              <a:t>Balanceador de carga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526280"/>
            <a:ext cx="3108960" cy="77724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>
                <a:solidFill>
                  <a:srgbClr val="2A2A2A"/>
                </a:solidFill>
                <a:latin typeface="Segoe UI"/>
              </a:rPr>
              <a:t>Tabla de rutas:</a:t>
            </a:r>
          </a:p>
          <a:p>
            <a:pPr algn="ctr"/>
            <a:r>
              <a:rPr sz="950" b="0">
                <a:solidFill>
                  <a:srgbClr val="2A2A2A"/>
                </a:solidFill>
                <a:latin typeface="Segoe UI"/>
              </a:rPr>
              <a:t>0.0.0.0/0 → Internet Gateway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2697480"/>
            <a:ext cx="3383280" cy="2834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7432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7A5C00"/>
                </a:solidFill>
                <a:latin typeface="Segoe UI"/>
              </a:rPr>
              <a:t>Subred privada (10.0.2.0/24)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3154680"/>
            <a:ext cx="2926080" cy="548640"/>
          </a:xfrm>
          <a:prstGeom prst="roundRect">
            <a:avLst/>
          </a:prstGeom>
          <a:solidFill>
            <a:srgbClr val="FBF3D9"/>
          </a:solidFill>
          <a:ln w="1270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Servidor de aplicación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3840480"/>
            <a:ext cx="2926080" cy="548640"/>
          </a:xfrm>
          <a:prstGeom prst="roundRect">
            <a:avLst/>
          </a:prstGeom>
          <a:solidFill>
            <a:srgbClr val="FBF3D9"/>
          </a:solidFill>
          <a:ln w="1270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Base de datos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4526280"/>
            <a:ext cx="2926080" cy="77724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0">
                <a:solidFill>
                  <a:srgbClr val="2A2A2A"/>
                </a:solidFill>
                <a:latin typeface="Segoe UI"/>
              </a:rPr>
              <a:t>Sin salida directa a internet</a:t>
            </a:r>
          </a:p>
          <a:p>
            <a:pPr algn="ctr"/>
            <a:r>
              <a:rPr sz="950" b="0">
                <a:solidFill>
                  <a:srgbClr val="2A2A2A"/>
                </a:solidFill>
                <a:latin typeface="Segoe UI"/>
              </a:rPr>
              <a:t>(sale vía NAT si es necesario)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783080"/>
            <a:ext cx="2743200" cy="4160520"/>
          </a:xfrm>
          <a:prstGeom prst="roundRect">
            <a:avLst/>
          </a:prstGeom>
          <a:solidFill>
            <a:srgbClr val="F7E8EA"/>
          </a:solidFill>
          <a:ln w="15875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20240"/>
            <a:ext cx="2377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6192E"/>
                </a:solidFill>
                <a:latin typeface="Segoe UI"/>
              </a:rPr>
              <a:t>Equivalencias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Segoe UI"/>
              </a:rPr>
              <a:t>AWS → VPC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Segoe UI"/>
              </a:rPr>
              <a:t>Azure → VNet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Segoe UI"/>
              </a:rPr>
              <a:t>GCP → VPC (global)</a:t>
            </a:r>
          </a:p>
          <a:p>
            <a:pPr algn="l"/>
            <a:r>
              <a:rPr sz="600" b="0">
                <a:solidFill>
                  <a:srgbClr val="2A2A2A"/>
                </a:solidFill>
                <a:latin typeface="Segoe UI"/>
              </a:rPr>
              <a:t/>
            </a:r>
          </a:p>
          <a:p>
            <a:pPr algn="l"/>
            <a:r>
              <a:rPr sz="1050" b="0">
                <a:solidFill>
                  <a:srgbClr val="2A2A2A"/>
                </a:solidFill>
                <a:latin typeface="Segoe UI"/>
              </a:rPr>
              <a:t>Los grupos de seguridad (SG / NSG / firewall rules) filtran tráfico por puerto y origen en los 3.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Modelo de despliegue: Nube privada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Single-tenant, dedicada a una organización — control total a cambio de CapEx, sin elasticidad.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6949440" cy="3566160"/>
          </a:xfrm>
          <a:prstGeom prst="roundRect">
            <a:avLst/>
          </a:prstGeom>
          <a:solidFill>
            <a:srgbClr val="F4F4F4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78D4"/>
                </a:solidFill>
                <a:latin typeface="Segoe UI"/>
              </a:rPr>
              <a:t>Datacenter dedicado — una sola organización (single-tenant)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06040"/>
            <a:ext cx="20574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Servidores propios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o arrendados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606040"/>
            <a:ext cx="20574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Virtualización privada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(vSphere · OpenStack · Hyper-V)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2606040"/>
            <a:ext cx="20574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Red corporativa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acceso solo interno / VPN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51960"/>
            <a:ext cx="653796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Control total sobre hardware, datos y cumplimiento normativo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37760"/>
            <a:ext cx="6537960" cy="502920"/>
          </a:xfrm>
          <a:prstGeom prst="roundRect">
            <a:avLst/>
          </a:prstGeom>
          <a:solidFill>
            <a:srgbClr val="FBF3D9"/>
          </a:solidFill>
          <a:ln w="1143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Ejemplos: banca con regulación estricta, gobierno, hospitales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011680"/>
            <a:ext cx="3840480" cy="3566160"/>
          </a:xfrm>
          <a:prstGeom prst="roundRect">
            <a:avLst/>
          </a:prstGeom>
          <a:solidFill>
            <a:srgbClr val="F7E8EA"/>
          </a:solidFill>
          <a:ln w="15875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148840"/>
            <a:ext cx="3474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6192E"/>
                </a:solidFill>
                <a:latin typeface="Segoe UI"/>
              </a:rPr>
              <a:t>El intercambio (trade-off)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✔ Control y seguridad física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✔ Cumplimiento / soberanía de datos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✘ CapEx alto y renovación de hardware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✘ Sin elasticidad real: la capacidad es la que se compró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✘ El equipo propio opera todo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Modelo de despliegue: Nube híbrida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Combina on-premise + pública conectadas — lo sensible en casa, lo elástico afuera.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4572000" cy="3108960"/>
          </a:xfrm>
          <a:prstGeom prst="roundRect">
            <a:avLst/>
          </a:prstGeom>
          <a:solidFill>
            <a:srgbClr val="F4F4F4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78D4"/>
                </a:solidFill>
                <a:latin typeface="Segoe UI"/>
              </a:rPr>
              <a:t>On-premise / nube privada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97480"/>
            <a:ext cx="4023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Datos sensibles y sistemas legados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(core bancario, historia clínica, ERP)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4023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Control físico y cumplimiento normativo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43400"/>
            <a:ext cx="4023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Capacidad fija (CapEx)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880360"/>
            <a:ext cx="1417320" cy="100584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950" b="1">
                <a:solidFill>
                  <a:srgbClr val="2A2A2A"/>
                </a:solidFill>
                <a:latin typeface="Segoe UI"/>
              </a:rPr>
              <a:t>VPN /</a:t>
            </a:r>
          </a:p>
          <a:p>
            <a:pPr algn="ctr"/>
            <a:r>
              <a:rPr sz="950" b="1">
                <a:solidFill>
                  <a:srgbClr val="2A2A2A"/>
                </a:solidFill>
                <a:latin typeface="Segoe UI"/>
              </a:rPr>
              <a:t>Direct Connect /</a:t>
            </a:r>
          </a:p>
          <a:p>
            <a:pPr algn="ctr"/>
            <a:r>
              <a:rPr sz="950" b="1">
                <a:solidFill>
                  <a:srgbClr val="2A2A2A"/>
                </a:solidFill>
                <a:latin typeface="Segoe UI"/>
              </a:rPr>
              <a:t>ExpressRoute /</a:t>
            </a:r>
          </a:p>
          <a:p>
            <a:pPr algn="ctr"/>
            <a:r>
              <a:rPr sz="950" b="1">
                <a:solidFill>
                  <a:srgbClr val="2A2A2A"/>
                </a:solidFill>
                <a:latin typeface="Segoe UI"/>
              </a:rPr>
              <a:t>Interconnect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103120"/>
            <a:ext cx="4572000" cy="3108960"/>
          </a:xfrm>
          <a:prstGeom prst="roundRect">
            <a:avLst/>
          </a:prstGeom>
          <a:solidFill>
            <a:srgbClr val="F7E8EA"/>
          </a:solidFill>
          <a:ln w="254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1945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6192E"/>
                </a:solidFill>
                <a:latin typeface="Segoe UI"/>
              </a:rPr>
              <a:t>Nube pública (AWS · Azure · GCP)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697480"/>
            <a:ext cx="4023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Cargas elásticas y variables</a:t>
            </a:r>
          </a:p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(web, campañas, picos de demanda)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566160"/>
            <a:ext cx="4023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Bursting: desbordar picos hacia la nube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4343400"/>
            <a:ext cx="4023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50" b="0">
                <a:solidFill>
                  <a:srgbClr val="2A2A2A"/>
                </a:solidFill>
                <a:latin typeface="Segoe UI"/>
              </a:rPr>
              <a:t>Pago por uso (OpEx)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32120"/>
            <a:ext cx="10927080" cy="640080"/>
          </a:xfrm>
          <a:prstGeom prst="roundRect">
            <a:avLst/>
          </a:prstGeom>
          <a:solidFill>
            <a:srgbClr val="FBF3D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0">
                <a:solidFill>
                  <a:srgbClr val="2A2A2A"/>
                </a:solidFill>
                <a:latin typeface="Segoe UI"/>
              </a:rPr>
              <a:t>Patrón típico: los datos regulados nunca salen del datacenter propio; la capa de presentación y los picos de tráfico viven en la nube pública.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Multi-nube: el riesgo de vendor lock-in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El mismo workload corre en 2+ proveedores — se diseña para reducir la dependencia de un solo proveedor.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1783080"/>
            <a:ext cx="4937760" cy="777240"/>
          </a:xfrm>
          <a:prstGeom prst="round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Aplicación portátil: contenedores + IaC (Terraform) + Kubernetes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31720" y="2606040"/>
            <a:ext cx="274320" cy="36576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36576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ED7100"/>
                </a:solidFill>
                <a:latin typeface="Segoe UI"/>
              </a:rPr>
              <a:t>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A2A2A"/>
                </a:solidFill>
                <a:latin typeface="Segoe UI"/>
              </a:rPr>
              <a:t>EC2 · EKS · S3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172200" y="2606040"/>
            <a:ext cx="274320" cy="36576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017520"/>
            <a:ext cx="36576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1089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0078D4"/>
                </a:solidFill>
                <a:latin typeface="Segoe UI"/>
              </a:rPr>
              <a:t>Azure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52044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A2A2A"/>
                </a:solidFill>
                <a:latin typeface="Segoe UI"/>
              </a:rPr>
              <a:t>VM · AKS · Blob Storage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0012680" y="2606040"/>
            <a:ext cx="274320" cy="36576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017520"/>
            <a:ext cx="36576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1089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4285F4"/>
                </a:solidFill>
                <a:latin typeface="Segoe UI"/>
              </a:rPr>
              <a:t>GCP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52044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A2A2A"/>
                </a:solidFill>
                <a:latin typeface="Segoe UI"/>
              </a:rPr>
              <a:t>GCE · GKE · Cloud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6192E"/>
                </a:solidFill>
                <a:latin typeface="Segoe UI"/>
              </a:rPr>
              <a:t>Tres niveles de lock-in — entre más abajo, más caro migrar: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83480"/>
            <a:ext cx="3657600" cy="105156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4748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6192E"/>
                </a:solidFill>
                <a:latin typeface="Segoe UI"/>
              </a:rPr>
              <a:t>1 · Infraestructura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13248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A2A2A"/>
                </a:solidFill>
                <a:latin typeface="Segoe UI"/>
              </a:rPr>
              <a:t>Bajo: Terraform y contenedores son portables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983480"/>
            <a:ext cx="3657600" cy="1051560"/>
          </a:xfrm>
          <a:prstGeom prst="roundRect">
            <a:avLst/>
          </a:prstGeom>
          <a:solidFill>
            <a:srgbClr val="FBF3D9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04748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6192E"/>
                </a:solidFill>
                <a:latin typeface="Segoe UI"/>
              </a:rPr>
              <a:t>2 · Datos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413248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A2A2A"/>
                </a:solidFill>
                <a:latin typeface="Segoe UI"/>
              </a:rPr>
              <a:t>Medio: formatos y egreso (salida de datos cuesta)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983480"/>
            <a:ext cx="3657600" cy="1051560"/>
          </a:xfrm>
          <a:prstGeom prst="roundRect">
            <a:avLst/>
          </a:prstGeom>
          <a:solidFill>
            <a:srgbClr val="A6192E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04748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3 · Aplicación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413248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Alto: servicios propietarios (DynamoDB, BigQuery) amarran el código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Recorrido visual: consolas de AWS, Azure y GCP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AWS Academy es la plataforma de práctica del curso (labs reales, cuenta gratuita) — no el único objeto de estudio.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20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57200" y="178308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1783080"/>
            <a:ext cx="3611880" cy="45720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tIns="0" bIns="0"/>
          <a:lstStyle/>
          <a:p>
            <a:pPr algn="l"/>
            <a:r>
              <a:rPr sz="950" b="1">
                <a:solidFill>
                  <a:srgbClr val="FFFFFF"/>
                </a:solidFill>
                <a:latin typeface="Segoe UI"/>
              </a:rPr>
              <a:t>☰  AWS · Consola de administración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33872"/>
            <a:ext cx="3429000" cy="2743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2331720"/>
            <a:ext cx="86868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Servicios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Cómputo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Almacenamiento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Bases de datos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Redes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Seguridad e identidad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Serverless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08760" y="233172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ws-ec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81912" y="2404872"/>
            <a:ext cx="347472" cy="3474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002536" y="240487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EC2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02536" y="280720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Máquinas virtuales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61488" y="233172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ws-s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34640" y="2404872"/>
            <a:ext cx="347472" cy="34747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255264" y="240487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S3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55264" y="280720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Almacenamiento de objetos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08760" y="352044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aws-lambd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81912" y="3593592"/>
            <a:ext cx="347472" cy="34747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002536" y="359359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Lambda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02536" y="399592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Funciones serverless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61488" y="352044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aws-vp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34640" y="3593592"/>
            <a:ext cx="347472" cy="34747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255264" y="359359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VPC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55264" y="399592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Redes virtuales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08760" y="470916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aws-rd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1912" y="4782312"/>
            <a:ext cx="347472" cy="34747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002536" y="478231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RDS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02536" y="518464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Bases de datos administradas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61488" y="470916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aws-iam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34640" y="4782312"/>
            <a:ext cx="347472" cy="34747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3255264" y="478231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IAM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5264" y="518464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Identidad y acceso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93108" y="178308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293108" y="1783080"/>
            <a:ext cx="3611880" cy="4572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tIns="0" bIns="0"/>
          <a:lstStyle/>
          <a:p>
            <a:pPr algn="l"/>
            <a:r>
              <a:rPr sz="950" b="1">
                <a:solidFill>
                  <a:srgbClr val="FFFFFF"/>
                </a:solidFill>
                <a:latin typeface="Segoe UI"/>
              </a:rPr>
              <a:t>☰  Azure Portal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84548" y="5833872"/>
            <a:ext cx="3429000" cy="2743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02836" y="2331720"/>
            <a:ext cx="86868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Servicios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Cómputo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Almacenamiento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Bases de datos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Redes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Seguridad e identidad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Serverless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344668" y="233172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az-vm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17820" y="2404872"/>
            <a:ext cx="347472" cy="34747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838444" y="240487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Virtual Machines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38444" y="280720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Máquinas virtuales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597396" y="233172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az-blo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70548" y="2404872"/>
            <a:ext cx="347472" cy="34747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091172" y="240487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Blob Storage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91172" y="280720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Almacenamiento de objetos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344668" y="352044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az-f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17820" y="3593592"/>
            <a:ext cx="347472" cy="34747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838444" y="359359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Functions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38444" y="399592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Funciones serverless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597396" y="352044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z-vne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70548" y="3593592"/>
            <a:ext cx="347472" cy="347472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091172" y="359359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Virtual Network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91172" y="399592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Redes virtuales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344668" y="470916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az-sql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17820" y="4782312"/>
            <a:ext cx="347472" cy="34747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5838444" y="478231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SQL Database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838444" y="518464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Bases de datos administradas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597396" y="470916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az-entra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70548" y="4782312"/>
            <a:ext cx="347472" cy="34747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7091172" y="478231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Entra 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91172" y="518464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Identidad y acceso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129016" y="178308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129016" y="1783080"/>
            <a:ext cx="3611880" cy="457200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tIns="0" bIns="0"/>
          <a:lstStyle/>
          <a:p>
            <a:pPr algn="l"/>
            <a:r>
              <a:rPr sz="950" b="1">
                <a:solidFill>
                  <a:srgbClr val="FFFFFF"/>
                </a:solidFill>
                <a:latin typeface="Segoe UI"/>
              </a:rPr>
              <a:t>☰  Google Cloud Console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20456" y="5833872"/>
            <a:ext cx="3429000" cy="2743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38744" y="2331720"/>
            <a:ext cx="868680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Servicios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Cómputo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Almacenamiento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Bases de datos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Redes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Seguridad e identidad</a:t>
            </a:r>
          </a:p>
          <a:p>
            <a:pPr algn="l"/>
            <a:r>
              <a:rPr sz="750" b="0" i="0">
                <a:solidFill>
                  <a:srgbClr val="2A2A2A"/>
                </a:solidFill>
                <a:latin typeface="Segoe UI"/>
              </a:rPr>
              <a:t>▸ Serverless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180576" y="233172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gcp-c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53728" y="2404872"/>
            <a:ext cx="347472" cy="347472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9674352" y="240487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Compute Engine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74352" y="280720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Máquinas virtuales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433304" y="233172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gcp-gcs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06456" y="2404872"/>
            <a:ext cx="347472" cy="347472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10927080" y="240487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Cloud Storage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27080" y="280720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Almacenamiento de objetos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180576" y="352044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gcp-run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53728" y="3593592"/>
            <a:ext cx="347472" cy="347472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674352" y="359359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Cloud Run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74352" y="399592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Funciones serverless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0433304" y="352044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Picture 114" descr="gcp-sql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06456" y="3593592"/>
            <a:ext cx="347472" cy="347472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0927080" y="359359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Cloud SQL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927080" y="399592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Bases de datos administradas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80576" y="470916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gcp-bq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53728" y="4782312"/>
            <a:ext cx="347472" cy="347472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9674352" y="478231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BigQuery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674352" y="518464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Analítica de datos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433304" y="4709160"/>
            <a:ext cx="1197864" cy="109728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gcp-gk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06456" y="4782312"/>
            <a:ext cx="347472" cy="34747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0927080" y="4782312"/>
            <a:ext cx="649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2A2A2A"/>
                </a:solidFill>
                <a:latin typeface="Segoe UI"/>
              </a:rPr>
              <a:t>GKE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927080" y="5184648"/>
            <a:ext cx="649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Segoe UI"/>
              </a:rPr>
              <a:t>Kubernetes administrado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6016752"/>
            <a:ext cx="112745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Segoe UI"/>
              </a:rPr>
              <a:t>Mockup simplificado con fines pedagógicos — el patrón de organización (categorías + tarjetas de servicio) es el mismo en las tres consolas; se explora en los laboratorios de AWS Academy.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Protección del acceso en la nube (multicloud)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1783080"/>
            <a:ext cx="4114800" cy="731520"/>
          </a:xfrm>
          <a:prstGeom prst="round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Identidad (persona o servicio)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77439" y="2560320"/>
            <a:ext cx="274320" cy="36576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657600"/>
            <a:ext cx="32918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A2A2A"/>
                </a:solidFill>
                <a:latin typeface="Segoe UI"/>
              </a:rPr>
              <a:t>MFA · SSO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Principio de mínimo privilegio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Allow / Deny — Deny siempre gana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Segoe UI"/>
              </a:rPr>
              <a:t>Usuarios, roles y
políticas JSON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217920" y="2560320"/>
            <a:ext cx="274320" cy="36576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97180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57600"/>
            <a:ext cx="32918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A2A2A"/>
                </a:solidFill>
                <a:latin typeface="Segoe UI"/>
              </a:rPr>
              <a:t>MFA · SSO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Principio de mínimo privilegio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Allow / Deny — Deny siempre gana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Segoe UI"/>
              </a:rPr>
              <a:t>RBAC y
Conditional Access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0058400" y="2560320"/>
            <a:ext cx="274320" cy="36576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971800"/>
            <a:ext cx="36576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3657600"/>
            <a:ext cx="32918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A2A2A"/>
                </a:solidFill>
                <a:latin typeface="Segoe UI"/>
              </a:rPr>
              <a:t>MFA · SSO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Principio de mínimo privilegio</a:t>
            </a:r>
          </a:p>
          <a:p>
            <a:pPr algn="l"/>
            <a:r>
              <a:rPr sz="1150" b="0">
                <a:solidFill>
                  <a:srgbClr val="2A2A2A"/>
                </a:solidFill>
                <a:latin typeface="Segoe UI"/>
              </a:rPr>
              <a:t>Allow / Deny — Deny siempre gana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Segoe UI"/>
              </a:rPr>
              <a:t>Permisos granulares
por recurso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669280"/>
            <a:ext cx="10927080" cy="594360"/>
          </a:xfrm>
          <a:prstGeom prst="roundRect">
            <a:avLst/>
          </a:prstGeom>
          <a:solidFill>
            <a:srgbClr val="F7E8EA"/>
          </a:solidFill>
          <a:ln w="1270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>Los tres proveedores comparten el mismo patrón: identidad → MFA → política → Allow/Deny. Aprender uno es aprender los tres.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1060704"/>
            <a:ext cx="6519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IAM + MFA + mínimo privilegio — idéntico patrón en AWS IAM, Microsoft Entra ID y Google Cloud IAM.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2971800"/>
            <a:ext cx="36576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17520"/>
            <a:ext cx="457200" cy="4572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16736" y="2971800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AWS IAM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2971800"/>
            <a:ext cx="36576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3017520"/>
            <a:ext cx="457200" cy="457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57216" y="2971800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Microsoft Entra ID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2971800"/>
            <a:ext cx="36576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3017520"/>
            <a:ext cx="457200" cy="4572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997696" y="2971800"/>
            <a:ext cx="29809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/>
            </a:pPr>
            <a:r>
              <a:t>Google Cloud IAM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Autenticación vs. autorización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Primero se autentica quién eres (identidad) y luego se autoriza qué puedes hacer (políticas).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3383280" cy="2286000"/>
          </a:xfrm>
          <a:prstGeom prst="roundRect">
            <a:avLst/>
          </a:prstGeom>
          <a:solidFill>
            <a:srgbClr val="F7E8EA"/>
          </a:solidFill>
          <a:ln w="22225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6192E"/>
                </a:solidFill>
                <a:latin typeface="Segoe UI"/>
              </a:rPr>
              <a:t>1 · AUTENTICACIÓN</a:t>
            </a:r>
          </a:p>
          <a:p>
            <a:pPr algn="l"/>
            <a:r>
              <a:rPr sz="1250" b="1">
                <a:solidFill>
                  <a:srgbClr val="2A2A2A"/>
                </a:solidFill>
                <a:latin typeface="Segoe UI"/>
              </a:rPr>
              <a:t>¿Quién eres?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Segoe UI"/>
              </a:rPr>
              <a:t>Usuario + contraseña
MFA (algo que tienes)
SSO / federación
Claves de acceso (servicios)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3108960"/>
            <a:ext cx="731520" cy="365760"/>
          </a:xfrm>
          <a:prstGeom prst="rightArrow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148840"/>
            <a:ext cx="3383280" cy="2286000"/>
          </a:xfrm>
          <a:prstGeom prst="roundRect">
            <a:avLst/>
          </a:prstGeom>
          <a:solidFill>
            <a:srgbClr val="FBF3D9"/>
          </a:solidFill>
          <a:ln w="222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86000"/>
            <a:ext cx="3017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A5C00"/>
                </a:solidFill>
                <a:latin typeface="Segoe UI"/>
              </a:rPr>
              <a:t>2 · AUTORIZACIÓN</a:t>
            </a:r>
          </a:p>
          <a:p>
            <a:pPr algn="l"/>
            <a:r>
              <a:rPr sz="1250" b="1">
                <a:solidFill>
                  <a:srgbClr val="2A2A2A"/>
                </a:solidFill>
                <a:latin typeface="Segoe UI"/>
              </a:rPr>
              <a:t>¿Qué puedes hacer?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Segoe UI"/>
              </a:rPr>
              <a:t>Políticas y roles
Permisos por recurso
Allow / Deny explícito
Mínimo privilegio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58200" y="3108960"/>
            <a:ext cx="731520" cy="365760"/>
          </a:xfrm>
          <a:prstGeom prst="rightArrow">
            <a:avLst/>
          </a:prstGeom>
          <a:solidFill>
            <a:srgbClr val="7A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148840"/>
            <a:ext cx="2331720" cy="2286000"/>
          </a:xfrm>
          <a:prstGeom prst="roundRect">
            <a:avLst/>
          </a:prstGeom>
          <a:solidFill>
            <a:srgbClr val="F4F4F4"/>
          </a:solidFill>
          <a:ln w="1905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286000"/>
            <a:ext cx="2057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2A2A"/>
                </a:solidFill>
                <a:latin typeface="Segoe UI"/>
              </a:rPr>
              <a:t>RECURSO</a:t>
            </a:r>
          </a:p>
          <a:p>
            <a:pPr algn="l"/>
            <a:r>
              <a:rPr sz="1050" b="0">
                <a:solidFill>
                  <a:srgbClr val="2A2A2A"/>
                </a:solidFill>
                <a:latin typeface="Segoe UI"/>
              </a:rPr>
              <a:t>Bucket S3
VM / instancia
Base de datos
Función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92040"/>
            <a:ext cx="11109960" cy="1143000"/>
          </a:xfrm>
          <a:prstGeom prst="roundRect">
            <a:avLst/>
          </a:prstGeom>
          <a:solidFill>
            <a:srgbClr val="F4F4F4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10744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2A2A"/>
                </a:solidFill>
                <a:latin typeface="Segoe UI"/>
              </a:rPr>
              <a:t>Ejemplo cotidiano: entrar al edificio con carnet = autenticación; que tu carnet solo abra el piso 3 = autorización.</a:t>
            </a:r>
          </a:p>
          <a:p>
            <a:pPr algn="l"/>
            <a:r>
              <a:rPr sz="1150" b="1">
                <a:solidFill>
                  <a:srgbClr val="A6192E"/>
                </a:solidFill>
                <a:latin typeface="Segoe UI"/>
              </a:rPr>
              <a:t>Autenticarse correctamente NO implica tener permiso: puedes estar dentro y aun así recibir "Access Denied".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9692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A6192E"/>
                </a:solidFill>
                <a:latin typeface="Segoe UI"/>
              </a:rPr>
              <a:t>Anatomía de una política de acceso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32688"/>
            <a:ext cx="2926080" cy="50292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932688"/>
            <a:ext cx="8348472" cy="502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127455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595959"/>
                </a:solidFill>
                <a:latin typeface="Segoe UI"/>
              </a:rPr>
              <a:t>Una política de acceso es un documento JSON/YAML con cuatro elementos: efecto, principal, recurso y condición.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Segoe UI"/>
              </a:rPr>
              <a:t>Rodolfo Cañas Cervantes | Arquitectura en la Nube — 2026-2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777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Segoe U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A2A2A"/>
                </a:solidFill>
                <a:latin typeface="Consolas"/>
              </a:rPr>
              <a:t>{</a:t>
            </a:r>
          </a:p>
          <a:p>
            <a:r>
              <a:rPr sz="1150" b="0">
                <a:solidFill>
                  <a:srgbClr val="2A2A2A"/>
                </a:solidFill>
                <a:latin typeface="Consolas"/>
              </a:rPr>
              <a:t>  "Version": "2012-10-17",</a:t>
            </a:r>
          </a:p>
          <a:p>
            <a:r>
              <a:rPr sz="1150" b="0">
                <a:solidFill>
                  <a:srgbClr val="2A2A2A"/>
                </a:solidFill>
                <a:latin typeface="Consolas"/>
              </a:rPr>
              <a:t>  "Statement": [{</a:t>
            </a:r>
          </a:p>
          <a:p>
            <a:r>
              <a:rPr sz="1150" b="1">
                <a:solidFill>
                  <a:srgbClr val="A6192E"/>
                </a:solidFill>
                <a:latin typeface="Consolas"/>
              </a:rPr>
              <a:t>    "Effect": "Allow",</a:t>
            </a:r>
          </a:p>
          <a:p>
            <a:r>
              <a:rPr sz="1150" b="1">
                <a:solidFill>
                  <a:srgbClr val="A6192E"/>
                </a:solidFill>
                <a:latin typeface="Consolas"/>
              </a:rPr>
              <a:t>    "Principal": {"AWS": "arn:aws:iam::123:user/ana"},</a:t>
            </a:r>
          </a:p>
          <a:p>
            <a:r>
              <a:rPr sz="1150" b="0">
                <a:solidFill>
                  <a:srgbClr val="2A2A2A"/>
                </a:solidFill>
                <a:latin typeface="Consolas"/>
              </a:rPr>
              <a:t>    "Action": ["s3:GetObject"],</a:t>
            </a:r>
          </a:p>
          <a:p>
            <a:r>
              <a:rPr sz="1150" b="1">
                <a:solidFill>
                  <a:srgbClr val="A6192E"/>
                </a:solidFill>
                <a:latin typeface="Consolas"/>
              </a:rPr>
              <a:t>    "Resource": "arn:aws:s3:::datos-cuc/*",</a:t>
            </a:r>
          </a:p>
          <a:p>
            <a:r>
              <a:rPr sz="1150" b="1">
                <a:solidFill>
                  <a:srgbClr val="A6192E"/>
                </a:solidFill>
                <a:latin typeface="Consolas"/>
              </a:rPr>
              <a:t>    "Condition": {"IpAddress": {"aws:SourceIp": "190.x.x.x"}}</a:t>
            </a:r>
          </a:p>
          <a:p>
            <a:r>
              <a:rPr sz="1150" b="0">
                <a:solidFill>
                  <a:srgbClr val="2A2A2A"/>
                </a:solidFill>
                <a:latin typeface="Consolas"/>
              </a:rPr>
              <a:t>  }]</a:t>
            </a:r>
          </a:p>
          <a:p>
            <a:r>
              <a:rPr sz="1150" b="0">
                <a:solidFill>
                  <a:srgbClr val="2A2A2A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6035040" cy="4069080"/>
          </a:xfrm>
          <a:prstGeom prst="roundRect">
            <a:avLst/>
          </a:prstGeom>
          <a:noFill/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874519"/>
            <a:ext cx="4800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61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947672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6192E"/>
                </a:solidFill>
                <a:latin typeface="Segoe UI"/>
              </a:rPr>
              <a:t>Efecto (Effect)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313432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Allow o Deny. Si hay un Deny explícito, siempre gana sobre cualquier Allow.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898648"/>
            <a:ext cx="4800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97180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078D4"/>
                </a:solidFill>
                <a:latin typeface="Segoe UI"/>
              </a:rPr>
              <a:t>Principal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337560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A quién aplica: usuario, rol o servicio (la identidad autenticada).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922776"/>
            <a:ext cx="4800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995928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4285F4"/>
                </a:solidFill>
                <a:latin typeface="Segoe UI"/>
              </a:rPr>
              <a:t>Recurso (Resource)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361688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Sobre qué aplica: un ARN/identificador específico — mínimo privilegio = recursos exactos, no "*".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4946904"/>
            <a:ext cx="4800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A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200" b="0">
                <a:solidFill>
                  <a:srgbClr val="2A2A2A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5020056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7A5C00"/>
                </a:solidFill>
                <a:latin typeface="Segoe UI"/>
              </a:rPr>
              <a:t>Condición (Condition)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5385816"/>
            <a:ext cx="4434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2A2A"/>
                </a:solidFill>
                <a:latin typeface="Segoe UI"/>
              </a:rPr>
              <a:t>Cuándo aplica: IP de origen, horario, MFA presente, etiquetas…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5989320"/>
            <a:ext cx="4800600" cy="411480"/>
          </a:xfrm>
          <a:prstGeom prst="roundRect">
            <a:avLst/>
          </a:prstGeom>
          <a:solidFill>
            <a:srgbClr val="FBF3D9"/>
          </a:solidFill>
          <a:ln w="1143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1000" b="0">
                <a:solidFill>
                  <a:srgbClr val="2A2A2A"/>
                </a:solidFill>
                <a:latin typeface="Segoe UI"/>
              </a:rPr>
              <a:t>El mismo esquema de 4 elementos existe en Azure (definiciones de rol) y en GCP (bindings de IAM).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26" y="502920"/>
            <a:ext cx="1502626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